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lvl="0" indent="0" algn="l" rtl="0">
              <a:lnSpc>
                <a:spcPct val="70000"/>
              </a:lnSpc>
              <a:spcBef>
                <a:spcPts val="1000"/>
              </a:spcBef>
              <a:spcAft>
                <a:spcPts val="0"/>
              </a:spcAft>
              <a:buClr>
                <a:schemeClr val="lt1"/>
              </a:buClr>
              <a:buSzPts val="1850"/>
              <a:buNone/>
            </a:pPr>
            <a:r>
              <a:rPr lang="en-US" sz="1850"/>
              <a:t>Developer: </a:t>
            </a:r>
            <a:r>
              <a:rPr lang="en-US" sz="1850" i="1"/>
              <a:t>[Insert your name here]</a:t>
            </a:r>
            <a:endParaRPr/>
          </a:p>
          <a:p>
            <a:pPr marL="0" lvl="0" indent="0" algn="l" rtl="0">
              <a:lnSpc>
                <a:spcPct val="70000"/>
              </a:lnSpc>
              <a:spcBef>
                <a:spcPts val="1000"/>
              </a:spcBef>
              <a:spcAft>
                <a:spcPts val="0"/>
              </a:spcAft>
              <a:buClr>
                <a:schemeClr val="lt1"/>
              </a:buClr>
              <a:buSzPts val="1850"/>
              <a:buNone/>
            </a:pPr>
            <a:endParaRPr sz="1850" i="1"/>
          </a:p>
          <a:p>
            <a:pPr marL="0" lvl="0" indent="0" algn="l" rtl="0">
              <a:lnSpc>
                <a:spcPct val="70000"/>
              </a:lnSpc>
              <a:spcBef>
                <a:spcPts val="1000"/>
              </a:spcBef>
              <a:spcAft>
                <a:spcPts val="0"/>
              </a:spcAft>
              <a:buSzPts val="1850"/>
              <a:buNone/>
            </a:pPr>
            <a:r>
              <a:rPr lang="en-US"/>
              <a:t>[Complete this template by replacing the bracketed text with the relevant information.]</a:t>
            </a:r>
            <a:endParaRPr i="1"/>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lang="en-US"/>
              <a:t>[Introduce your security policy. Explain why it was needed and how it will be used to support the defense-in-depth best practice.]</a:t>
            </a:r>
            <a:endParaRPr sz="1600"/>
          </a:p>
          <a:p>
            <a:pPr marL="0" lvl="0" indent="0" algn="l" rtl="0">
              <a:lnSpc>
                <a:spcPct val="90000"/>
              </a:lnSpc>
              <a:spcBef>
                <a:spcPts val="1000"/>
              </a:spcBef>
              <a:spcAft>
                <a:spcPts val="0"/>
              </a:spcAft>
              <a:buClr>
                <a:schemeClr val="lt1"/>
              </a:buClr>
              <a:buSzPts val="2200"/>
              <a:buNone/>
            </a:pPr>
            <a:endParaRPr/>
          </a:p>
        </p:txBody>
      </p:sp>
      <p:pic>
        <p:nvPicPr>
          <p:cNvPr id="153" name="Google Shape;153;p3" descr="Shows the following layers of developer defense: Physical security, Cloud security, Perimeter security, network security, Host security, Endpoint security, APP security and critical assets, systems, and data security." title="NHS (Healthcare) Defense in Depth – Shaun Van Niekerk"/>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lvl="0" indent="0" algn="l" rtl="0">
              <a:lnSpc>
                <a:spcPct val="107916"/>
              </a:lnSpc>
              <a:spcBef>
                <a:spcPts val="0"/>
              </a:spcBef>
              <a:spcAft>
                <a:spcPts val="0"/>
              </a:spcAft>
              <a:buSzPts val="1800"/>
              <a:buNone/>
            </a:pPr>
            <a:r>
              <a:rPr lang="en-US" sz="2000">
                <a:solidFill>
                  <a:srgbClr val="FFFFFF"/>
                </a:solidFill>
              </a:rPr>
              <a:t>[Populate the Threats Matrix table and provide explanations to summarize of all of your security risks.]</a:t>
            </a:r>
            <a:endParaRPr sz="2000"/>
          </a:p>
          <a:p>
            <a:pPr marL="228600" lvl="0" indent="-88900" algn="l" rtl="0">
              <a:lnSpc>
                <a:spcPct val="90000"/>
              </a:lnSpc>
              <a:spcBef>
                <a:spcPts val="1000"/>
              </a:spcBef>
              <a:spcAft>
                <a:spcPts val="0"/>
              </a:spcAft>
              <a:buClr>
                <a:schemeClr val="lt1"/>
              </a:buClr>
              <a:buSzPts val="2200"/>
              <a:buNone/>
            </a:pPr>
            <a:endParaRPr/>
          </a:p>
        </p:txBody>
      </p:sp>
      <p:graphicFrame>
        <p:nvGraphicFramePr>
          <p:cNvPr id="161" name="Google Shape;161;p4"/>
          <p:cNvGraphicFramePr/>
          <p:nvPr/>
        </p:nvGraphicFramePr>
        <p:xfrm>
          <a:off x="3171900" y="2561050"/>
          <a:ext cx="7835225" cy="3538650"/>
        </p:xfrm>
        <a:graphic>
          <a:graphicData uri="http://schemas.openxmlformats.org/drawingml/2006/table">
            <a:tbl>
              <a:tblPr>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Likely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3600" u="none" strike="noStrike" cap="none">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Priority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1400" u="none" strike="noStrike" cap="none"/>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Low priority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1400" u="none" strike="noStrike" cap="none"/>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Unlikely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1400" u="none" strike="noStrike" cap="none"/>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a:t>[L</a:t>
            </a:r>
            <a:r>
              <a:rPr lang="en-US">
                <a:solidFill>
                  <a:srgbClr val="FFFFFF"/>
                </a:solidFill>
              </a:rPr>
              <a:t>ist the 10 principles. List the coding standards that apply to each principle. This should demonstrate the alignment between principles and standards.]</a:t>
            </a:r>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a:t>[List the 10 coding standards. Explain your own ranking system for vulnerabilities, using specific details from the coding standards in your security policy.]</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a:t>[Explain the policies for encryption in flight, at rest, and in use.]</a:t>
            </a:r>
            <a:endParaRPr sz="1600"/>
          </a:p>
          <a:p>
            <a:pPr marL="0" lvl="0" indent="0" algn="l" rtl="0">
              <a:lnSpc>
                <a:spcPct val="90000"/>
              </a:lnSpc>
              <a:spcBef>
                <a:spcPts val="1000"/>
              </a:spcBef>
              <a:spcAft>
                <a:spcPts val="0"/>
              </a:spcAft>
              <a:buClr>
                <a:schemeClr val="lt1"/>
              </a:buClr>
              <a:buSzPts val="1600"/>
              <a:buNone/>
            </a:pPr>
            <a:endParaRPr sz="1600"/>
          </a:p>
          <a:p>
            <a:pPr marL="228600" lvl="0" indent="-88900" algn="l" rtl="0">
              <a:lnSpc>
                <a:spcPct val="90000"/>
              </a:lnSpc>
              <a:spcBef>
                <a:spcPts val="1000"/>
              </a:spcBef>
              <a:spcAft>
                <a:spcPts val="0"/>
              </a:spcAft>
              <a:buClr>
                <a:schemeClr val="lt1"/>
              </a:buClr>
              <a:buSzPts val="2200"/>
              <a:buNone/>
            </a:pP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rPr lang="en-US" sz="2400"/>
              <a:t>[Explain the policies that support authentication, authorization, and accounting.]</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a:t>[Identify the coding vulnerability you chose to test. Include four to six mixed tests for positive and negative results. Include a slide for each test. Use the question for the test as the title. Show the results.]</a:t>
            </a:r>
            <a:endParaRP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title="DevSec Ops Toolchain Diagram"/>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rPr lang="en-US"/>
              <a:t>[Explain the DevSecOps pipeline.]</a:t>
            </a:r>
            <a:endParaRPr sz="1600"/>
          </a:p>
          <a:p>
            <a:pPr marL="685800" lvl="1" indent="-228600" algn="l" rtl="0">
              <a:lnSpc>
                <a:spcPct val="90000"/>
              </a:lnSpc>
              <a:spcBef>
                <a:spcPts val="500"/>
              </a:spcBef>
              <a:spcAft>
                <a:spcPts val="0"/>
              </a:spcAft>
              <a:buClr>
                <a:schemeClr val="lt1"/>
              </a:buClr>
              <a:buSzPts val="2000"/>
              <a:buChar char="•"/>
            </a:pPr>
            <a:r>
              <a:rPr lang="en-US"/>
              <a:t>[Summarize the external tools and where and how they are used in the context of the diagram.]</a:t>
            </a:r>
            <a:endParaRPr sz="160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a:t>[Describe the problems, the solutions, and the risks or benefits involved if you act now or wait. Where is the strategy lacking? What are the risks of using this strategy? Which steps should be taken?]</a:t>
            </a:r>
            <a:endParaRP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pPr>
            <a:r>
              <a:rPr lang="en-US"/>
              <a:t>[Identify gaps in the security policy.]</a:t>
            </a:r>
            <a:endParaRPr sz="140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a:t>[Identify standards that should be adopted to prevent future problems.]</a:t>
            </a:r>
            <a:endParaRPr sz="1800"/>
          </a:p>
          <a:p>
            <a:pPr marL="228600" lvl="0" indent="-88900" algn="l" rtl="0">
              <a:lnSpc>
                <a:spcPct val="90000"/>
              </a:lnSpc>
              <a:spcBef>
                <a:spcPts val="1000"/>
              </a:spcBef>
              <a:spcAft>
                <a:spcPts val="0"/>
              </a:spcAft>
              <a:buClr>
                <a:schemeClr val="lt1"/>
              </a:buClr>
              <a:buSzPts val="2200"/>
              <a:buNone/>
            </a:pP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a:t>[Provide APA-style references with links to resources, articles, and videos that you used in your presentation.]</a:t>
            </a:r>
            <a:endParaRP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purl.org/dc/elements/1.1/"/>
    <ds:schemaRef ds:uri="http://schemas.microsoft.com/office/2006/documentManagement/types"/>
    <ds:schemaRef ds:uri="http://purl.org/dc/terms/"/>
    <ds:schemaRef ds:uri="http://schemas.microsoft.com/office/infopath/2007/PartnerControls"/>
    <ds:schemaRef ds:uri="http://purl.org/dc/dcmityp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352</Words>
  <Application>Microsoft Office PowerPoint</Application>
  <PresentationFormat>Widescreen</PresentationFormat>
  <Paragraphs>39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Pace</dc:title>
  <dc:creator>Kathy Shields</dc:creator>
  <cp:lastModifiedBy>Russo, Jordan</cp:lastModifiedBy>
  <cp:revision>1</cp:revision>
  <dcterms:created xsi:type="dcterms:W3CDTF">2020-08-19T17:59:24Z</dcterms:created>
  <dcterms:modified xsi:type="dcterms:W3CDTF">2020-10-19T15:40:59Z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